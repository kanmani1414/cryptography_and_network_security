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56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0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4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4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04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57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2171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70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2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41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57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88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226" y="2426507"/>
            <a:ext cx="10886660" cy="1641490"/>
          </a:xfrm>
        </p:spPr>
        <p:txBody>
          <a:bodyPr>
            <a:noAutofit/>
          </a:bodyPr>
          <a:lstStyle/>
          <a:p>
            <a:r>
              <a:rPr lang="en-US" sz="6000" b="1" dirty="0" smtClean="0"/>
              <a:t>Security </a:t>
            </a:r>
            <a:r>
              <a:rPr lang="en-US" sz="6000" b="1" dirty="0"/>
              <a:t>Attacks, Threats</a:t>
            </a:r>
            <a:r>
              <a:rPr lang="en-US" sz="6000" b="1" dirty="0" smtClean="0"/>
              <a:t>,  </a:t>
            </a:r>
            <a:r>
              <a:rPr lang="en-US" sz="6000" b="1" dirty="0"/>
              <a:t>Risks and 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Their  </a:t>
            </a:r>
            <a:r>
              <a:rPr lang="en-US" sz="6000" b="1" dirty="0"/>
              <a:t>Impact </a:t>
            </a:r>
            <a:r>
              <a:rPr lang="en-US" sz="6000" b="1" dirty="0" smtClean="0"/>
              <a:t> on  Security Goals</a:t>
            </a:r>
            <a:endParaRPr lang="en-IN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473" y="5012475"/>
            <a:ext cx="3369666" cy="754025"/>
          </a:xfrm>
        </p:spPr>
        <p:txBody>
          <a:bodyPr>
            <a:noAutofit/>
          </a:bodyPr>
          <a:lstStyle/>
          <a:p>
            <a:r>
              <a:rPr lang="en-US" sz="2800" dirty="0"/>
              <a:t>GUIDED BY</a:t>
            </a:r>
            <a:r>
              <a:rPr lang="en-US" sz="2800" dirty="0" smtClean="0"/>
              <a:t>:</a:t>
            </a:r>
            <a:br>
              <a:rPr lang="en-US" sz="2800" dirty="0" smtClean="0"/>
            </a:br>
            <a:r>
              <a:rPr lang="en-US" sz="2800" dirty="0" err="1" smtClean="0"/>
              <a:t>Dr.E.ANBALAGAN</a:t>
            </a:r>
            <a:endParaRPr lang="en-US" sz="2800" dirty="0"/>
          </a:p>
        </p:txBody>
      </p:sp>
      <p:pic>
        <p:nvPicPr>
          <p:cNvPr id="4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033829" y="5568392"/>
            <a:ext cx="3369666" cy="754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PRESENTED BY:</a:t>
            </a:r>
            <a:br>
              <a:rPr lang="en-US" sz="2800" dirty="0" smtClean="0"/>
            </a:br>
            <a:r>
              <a:rPr lang="en-US" sz="2800" dirty="0" smtClean="0"/>
              <a:t>KANMANI L</a:t>
            </a:r>
          </a:p>
          <a:p>
            <a:r>
              <a:rPr lang="en-US" sz="2800" dirty="0" smtClean="0"/>
              <a:t>(192511414)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 rot="10800000" flipV="1">
            <a:off x="3488636" y="4119288"/>
            <a:ext cx="6549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CSA5116-CRYPTOGRAPHY AND NETWORK SECURITY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427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183" y="427916"/>
            <a:ext cx="8511209" cy="113568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INTRODUCTION TO INFORMATION SECURITY</a:t>
            </a:r>
            <a:endParaRPr lang="en-IN" b="1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08992" y="1563600"/>
            <a:ext cx="8318174" cy="4592829"/>
          </a:xfrm>
        </p:spPr>
        <p:txBody>
          <a:bodyPr>
            <a:noAutofit/>
          </a:bodyPr>
          <a:lstStyle/>
          <a:p>
            <a:r>
              <a:rPr lang="en-US" sz="2000" b="1" dirty="0"/>
              <a:t>What are Security </a:t>
            </a:r>
            <a:r>
              <a:rPr lang="en-US" sz="2000" b="1" dirty="0" smtClean="0"/>
              <a:t>Goals?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dirty="0" smtClean="0"/>
              <a:t>Security </a:t>
            </a:r>
            <a:r>
              <a:rPr lang="en-US" sz="2000" dirty="0"/>
              <a:t>goals are the fundamental principles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that </a:t>
            </a:r>
            <a:r>
              <a:rPr lang="en-US" sz="2000" dirty="0"/>
              <a:t>protect information and ensure secure </a:t>
            </a:r>
            <a:r>
              <a:rPr lang="en-US" sz="2000" dirty="0" smtClean="0"/>
              <a:t>communication.</a:t>
            </a:r>
          </a:p>
          <a:p>
            <a:r>
              <a:rPr lang="en-US" sz="2000" b="1" dirty="0" smtClean="0"/>
              <a:t>Why </a:t>
            </a:r>
            <a:r>
              <a:rPr lang="en-US" sz="2000" b="1" dirty="0"/>
              <a:t>are They Important?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 Protect </a:t>
            </a:r>
            <a:r>
              <a:rPr lang="en-US" sz="2000" dirty="0"/>
              <a:t>sensitive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 Prevent </a:t>
            </a:r>
            <a:r>
              <a:rPr lang="en-US" sz="2000" dirty="0"/>
              <a:t>unauthorized access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smtClean="0"/>
              <a:t>Ensure </a:t>
            </a:r>
            <a:r>
              <a:rPr lang="en-US" sz="2000" dirty="0"/>
              <a:t>reliable and secure systems 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Build </a:t>
            </a:r>
            <a:r>
              <a:rPr lang="en-US" sz="2000" dirty="0"/>
              <a:t>trust and ensure </a:t>
            </a:r>
            <a:r>
              <a:rPr lang="en-US" sz="2000" dirty="0" smtClean="0"/>
              <a:t>compliance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/>
              <a:t>Core Security Goals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Confidentiality</a:t>
            </a:r>
            <a:r>
              <a:rPr lang="en-US" sz="2000" dirty="0"/>
              <a:t> – Protects data from unauthorized access.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Integrity</a:t>
            </a:r>
            <a:r>
              <a:rPr lang="en-US" sz="2000" dirty="0"/>
              <a:t> – Ensures data remains accurate and unaltered.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Availability</a:t>
            </a:r>
            <a:r>
              <a:rPr lang="en-US" sz="2000" dirty="0"/>
              <a:t> – Ensures authorized users can access information when needed.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034" name="Picture 10" descr="CIA Triad: The Three Goals of Cybersecurity Explain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992" y="2217963"/>
            <a:ext cx="4452729" cy="351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58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175" y="34385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Understanding Threats,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Attacks </a:t>
            </a:r>
            <a:r>
              <a:rPr lang="en-IN" dirty="0"/>
              <a:t>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107" y="1758867"/>
            <a:ext cx="9772668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900" b="1" dirty="0" smtClean="0"/>
              <a:t>Threat</a:t>
            </a:r>
            <a:endParaRPr lang="en-US" sz="1900" b="1" dirty="0"/>
          </a:p>
          <a:p>
            <a:r>
              <a:rPr lang="en-US" sz="1900" dirty="0"/>
              <a:t>A potential danger that can harm a system or its information.</a:t>
            </a:r>
          </a:p>
          <a:p>
            <a:r>
              <a:rPr lang="en-US" sz="1900" b="1" dirty="0"/>
              <a:t>Examples:</a:t>
            </a:r>
            <a:r>
              <a:rPr lang="en-US" sz="1900" dirty="0"/>
              <a:t> Hacker, Malware, Natural </a:t>
            </a:r>
            <a:r>
              <a:rPr lang="en-US" sz="1900" dirty="0" smtClean="0"/>
              <a:t>Disaster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 smtClean="0"/>
              <a:t>Attack</a:t>
            </a:r>
            <a:endParaRPr lang="en-US" sz="1900" b="1" dirty="0"/>
          </a:p>
          <a:p>
            <a:r>
              <a:rPr lang="en-US" sz="1900" dirty="0"/>
              <a:t>An intentional attempt to exploit a system and gain unauthorized access.</a:t>
            </a:r>
          </a:p>
          <a:p>
            <a:r>
              <a:rPr lang="en-US" sz="1900" b="1" dirty="0"/>
              <a:t>Examples:</a:t>
            </a:r>
            <a:r>
              <a:rPr lang="en-US" sz="1900" dirty="0"/>
              <a:t> Phishing, Ransomware, </a:t>
            </a:r>
            <a:r>
              <a:rPr lang="en-US" sz="1900" dirty="0" err="1"/>
              <a:t>DoS</a:t>
            </a:r>
            <a:r>
              <a:rPr lang="en-US" sz="1900" dirty="0"/>
              <a:t>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/>
              <a:t>Risk</a:t>
            </a:r>
          </a:p>
          <a:p>
            <a:r>
              <a:rPr lang="en-US" sz="1900" dirty="0"/>
              <a:t>The chance of loss or damage when a threat exploits a vulnerability.</a:t>
            </a:r>
          </a:p>
          <a:p>
            <a:r>
              <a:rPr lang="en-US" sz="1900" b="1" dirty="0"/>
              <a:t>Examples:</a:t>
            </a:r>
            <a:r>
              <a:rPr lang="en-US" sz="1900" dirty="0"/>
              <a:t> Data theft, Financial loss, Service </a:t>
            </a:r>
            <a:r>
              <a:rPr lang="en-US" sz="1900" dirty="0" smtClean="0"/>
              <a:t>disruption</a:t>
            </a:r>
          </a:p>
          <a:p>
            <a:endParaRPr lang="en-US" sz="1900" dirty="0"/>
          </a:p>
          <a:p>
            <a:endParaRPr lang="en-US" sz="1900" dirty="0" smtClean="0"/>
          </a:p>
          <a:p>
            <a:r>
              <a:rPr lang="en-US" sz="1900" b="1" dirty="0"/>
              <a:t>Hacker (Threat)</a:t>
            </a:r>
            <a:r>
              <a:rPr lang="en-US" sz="1900" dirty="0"/>
              <a:t> → </a:t>
            </a:r>
            <a:r>
              <a:rPr lang="en-US" sz="1900" b="1" dirty="0"/>
              <a:t>Phishing Email (Attack)</a:t>
            </a:r>
            <a:r>
              <a:rPr lang="en-US" sz="1900" dirty="0"/>
              <a:t> → </a:t>
            </a:r>
            <a:r>
              <a:rPr lang="en-US" sz="1900" b="1" dirty="0"/>
              <a:t>Stolen Password (</a:t>
            </a:r>
            <a:r>
              <a:rPr lang="en-US" sz="1900" b="1" dirty="0" smtClean="0"/>
              <a:t>Risk)</a:t>
            </a:r>
          </a:p>
          <a:p>
            <a:pPr marL="0" indent="0">
              <a:buNone/>
            </a:pPr>
            <a:endParaRPr lang="en-US" sz="1900" dirty="0"/>
          </a:p>
          <a:p>
            <a:endParaRPr lang="en-US" sz="19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011556" y="5456582"/>
            <a:ext cx="63312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Threat → Vulnerability → Attack → Risk →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8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687" y="321158"/>
            <a:ext cx="73152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TYPES OF SECURITY ATTACKS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425" y="1785868"/>
            <a:ext cx="7188975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Passive Attacks</a:t>
            </a:r>
          </a:p>
          <a:p>
            <a:r>
              <a:rPr lang="en-US" sz="2000" i="1" dirty="0"/>
              <a:t>Observe information without altering it.</a:t>
            </a:r>
            <a:endParaRPr lang="en-US" sz="2000" dirty="0"/>
          </a:p>
          <a:p>
            <a:r>
              <a:rPr lang="en-US" sz="2000" b="1" dirty="0"/>
              <a:t>Release of Message Contents</a:t>
            </a:r>
            <a:r>
              <a:rPr lang="en-US" sz="2000" dirty="0"/>
              <a:t> – Unauthorized reading of data. </a:t>
            </a:r>
          </a:p>
          <a:p>
            <a:r>
              <a:rPr lang="en-US" sz="2000" b="1" dirty="0"/>
              <a:t>Traffic Analysis</a:t>
            </a:r>
            <a:r>
              <a:rPr lang="en-US" sz="2000" dirty="0"/>
              <a:t> – Monitoring communication patterns</a:t>
            </a:r>
            <a:r>
              <a:rPr lang="en-US" sz="2000" dirty="0" smtClean="0"/>
              <a:t>.</a:t>
            </a:r>
          </a:p>
          <a:p>
            <a:r>
              <a:rPr lang="en-IN" sz="2000" b="1" dirty="0"/>
              <a:t>Active Attacks</a:t>
            </a:r>
          </a:p>
          <a:p>
            <a:r>
              <a:rPr lang="en-IN" sz="2000" i="1" dirty="0"/>
              <a:t>Modify, disrupt, or destroy information.</a:t>
            </a:r>
            <a:endParaRPr lang="en-IN" sz="2000" dirty="0"/>
          </a:p>
          <a:p>
            <a:r>
              <a:rPr lang="en-IN" sz="2000" b="1" dirty="0"/>
              <a:t>Masquerade</a:t>
            </a:r>
            <a:r>
              <a:rPr lang="en-IN" sz="2000" dirty="0"/>
              <a:t> – Impersonating an authorized user. </a:t>
            </a:r>
          </a:p>
          <a:p>
            <a:r>
              <a:rPr lang="en-IN" sz="2000" b="1" dirty="0"/>
              <a:t>Replay Attack</a:t>
            </a:r>
            <a:r>
              <a:rPr lang="en-IN" sz="2000" dirty="0"/>
              <a:t> – Resending intercepted data. </a:t>
            </a:r>
          </a:p>
          <a:p>
            <a:r>
              <a:rPr lang="en-IN" sz="2000" b="1" dirty="0"/>
              <a:t>Message Modification</a:t>
            </a:r>
            <a:r>
              <a:rPr lang="en-IN" sz="2000" dirty="0"/>
              <a:t> – Altering transmitted messages. </a:t>
            </a:r>
          </a:p>
          <a:p>
            <a:r>
              <a:rPr lang="en-IN" sz="2000" b="1" dirty="0"/>
              <a:t>Denial of Service (</a:t>
            </a:r>
            <a:r>
              <a:rPr lang="en-IN" sz="2000" b="1" dirty="0" err="1"/>
              <a:t>DoS</a:t>
            </a:r>
            <a:r>
              <a:rPr lang="en-IN" sz="2000" b="1" dirty="0"/>
              <a:t>)</a:t>
            </a:r>
            <a:r>
              <a:rPr lang="en-IN" sz="2000" dirty="0"/>
              <a:t> – Disrupting access to services.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17866"/>
              </p:ext>
            </p:extLst>
          </p:nvPr>
        </p:nvGraphicFramePr>
        <p:xfrm>
          <a:off x="7518400" y="2047462"/>
          <a:ext cx="4219714" cy="353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57"/>
                <a:gridCol w="2109857"/>
              </a:tblGrid>
              <a:tr h="86960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Passive Attack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Active Attack</a:t>
                      </a:r>
                      <a:endParaRPr lang="en-IN" dirty="0"/>
                    </a:p>
                  </a:txBody>
                  <a:tcPr anchor="ctr"/>
                </a:tc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Observes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Modifies or disrupts data</a:t>
                      </a:r>
                    </a:p>
                  </a:txBody>
                  <a:tcPr anchor="ctr"/>
                </a:tc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Difficult to detect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 smtClean="0"/>
                        <a:t>Easier to detect</a:t>
                      </a:r>
                      <a:endParaRPr lang="en-IN" dirty="0"/>
                    </a:p>
                  </a:txBody>
                  <a:tcPr/>
                </a:tc>
              </a:tr>
              <a:tr h="92950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 smtClean="0"/>
                        <a:t>Affects Confidentiality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 smtClean="0"/>
                        <a:t>Affects Integrity &amp; Availability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3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1373" y="799646"/>
            <a:ext cx="6848061" cy="914401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SECURITY MEASURES</a:t>
            </a:r>
            <a:br>
              <a:rPr lang="en-IN" b="1" dirty="0" smtClean="0"/>
            </a:br>
            <a:endParaRPr lang="en-IN" b="1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03175" y="1405138"/>
            <a:ext cx="644055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sensitive information by converting it into unreadable cipher text.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Verifies the identity of users before allowing access to systems or data.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Restricts access to information based on user roles and permissions.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Firewalls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and filters network traffic to prevent unauthorized access.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Multi-Factor Authentication (MFA)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security by requiring two or more verification methods.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&amp;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important data can be restored after cyberattacks or system failures.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32" y="2078498"/>
            <a:ext cx="4576969" cy="37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4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653" y="436414"/>
            <a:ext cx="8729678" cy="12549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IMPACT OF SECURITY THREATS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122" y="1709755"/>
            <a:ext cx="942229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smtClean="0"/>
              <a:t>Data </a:t>
            </a:r>
            <a:r>
              <a:rPr lang="en-US" sz="2000" b="1" dirty="0"/>
              <a:t>Breaches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Unauthorized access to confidential or sensitive information.</a:t>
            </a:r>
          </a:p>
          <a:p>
            <a:pPr>
              <a:lnSpc>
                <a:spcPct val="100000"/>
              </a:lnSpc>
            </a:pPr>
            <a:r>
              <a:rPr lang="en-US" sz="2000" b="1" dirty="0" smtClean="0"/>
              <a:t> </a:t>
            </a:r>
            <a:r>
              <a:rPr lang="en-US" sz="2000" b="1" dirty="0"/>
              <a:t>Financial Loss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Costs incurred due to cyberattacks, fraud, ransom payments, and system recovery.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 smtClean="0"/>
              <a:t>Operational </a:t>
            </a:r>
            <a:r>
              <a:rPr lang="en-US" sz="2000" b="1" dirty="0"/>
              <a:t>Disruption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Interruptions in business operations caused by attacks such as malware or Denial-of-Service (</a:t>
            </a:r>
            <a:r>
              <a:rPr lang="en-US" sz="2000" dirty="0" err="1"/>
              <a:t>DoS</a:t>
            </a:r>
            <a:r>
              <a:rPr lang="en-US" sz="2000" dirty="0"/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 smtClean="0"/>
              <a:t>Identity </a:t>
            </a:r>
            <a:r>
              <a:rPr lang="en-US" sz="2000" b="1" dirty="0"/>
              <a:t>Theft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Personal or organizational information is stolen and misused for fraudulent activities.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 smtClean="0"/>
              <a:t>Reputational </a:t>
            </a:r>
            <a:r>
              <a:rPr lang="en-US" sz="2000" b="1" dirty="0"/>
              <a:t>Damage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Loss of customer trust, reduced credibility, and negative impact on an organization's image.</a:t>
            </a: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6336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192429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989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0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607904" y="2951923"/>
            <a:ext cx="5347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/>
              <a:t>THANKYOU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65761256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843</TotalTime>
  <Words>378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</vt:lpstr>
      <vt:lpstr>Depth</vt:lpstr>
      <vt:lpstr>Security Attacks, Threats,  Risks and   Their  Impact  on  Security Goals</vt:lpstr>
      <vt:lpstr>INTRODUCTION TO INFORMATION SECURITY</vt:lpstr>
      <vt:lpstr>Understanding Threats,  Attacks &amp; Risks</vt:lpstr>
      <vt:lpstr>TYPES OF SECURITY ATTACKS</vt:lpstr>
      <vt:lpstr>SECURITY MEASURES </vt:lpstr>
      <vt:lpstr>IMPACT OF SECURITY THREATS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Attacks, Threats,  Risks and   Their  Impact  on  Security Goals</dc:title>
  <dc:creator>SRI SAI TECH</dc:creator>
  <cp:lastModifiedBy>SRI SAI TECH</cp:lastModifiedBy>
  <cp:revision>15</cp:revision>
  <dcterms:created xsi:type="dcterms:W3CDTF">2026-07-14T14:48:58Z</dcterms:created>
  <dcterms:modified xsi:type="dcterms:W3CDTF">2026-07-15T05:02:13Z</dcterms:modified>
</cp:coreProperties>
</file>